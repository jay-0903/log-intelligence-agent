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1695" cy="6858000" type="screen16x9"/>
  <p:notesSz cx="6858000" cy="12191695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2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— our project is the Log Intelligence Agent. In one line: it turns millions of raw log lines into a clear, trustworthy answer for three different people — an engineer, a team lead, and a manager. Over the next five minutes I'll show the problem, our idea, how it works, and the evidence it produces. Transition: let's start with why this is hard.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busy system writes millions of log lines every day. A language model is great at explaining a failure, but you physically cannot paste millions of lines into it. And it's not one audience: the same logs are read by an engineer debugging an incident, a team lead looking for recurring issues, and a manager deciding priorities. Each needs different evidence. Transition: here's our idea for serving all three without drowning the model in data.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key idea is a flip. Instead of pushing logs into the model, we give the model a small set of tools — think of each tool as a pre-written database query it can call, like 'search the logs' or 'count alerts by team'. The database (SereneDB) does the heavy lifting of searching and counting; the AI only ever receives a small, relevant slice plus a summary, which it turns into a plain-language answer. And crucially, every answer carries the exact query behind it, so a reviewer can check every number. Transition: let me show how the pieces fit together.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Concretely, we built 16 tools, grouped by who asks. The engineer gets full-text search, 'what happened nearby in time', and the ability to trace a single request. The team lead gets counts — per alert type, per owning team, and trends over time. The manager gets a view of what's widespread versus a one-off, each routed to the team that owns it. Two plain-language notes: 'full-text search' is basically a smart Ctrl-F over 4.7 million lines that ranks the best matches first; and we expose everything over MCP, an open standard, so an assistant like Claude can call the tools directly. Transition: the best way to see the value is a real investigation — one story, three roles.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insight that makes the whole thing worth it. If you rank alerts by raw volume, KERNDTLB wins with 152,734 lines — it looks like the top priority. But measure how it's spread over time and 99.6% of it landed on a single day: it's one incident, not an ongoing problem. Meanwhile two much quieter alerts, KERNMC and KERNRTSP, show up on 144 and 126 separate days — those are the real standing faults. So we rank by spread, by how many distinct days an alert appears, not by volume. That's the kind of judgment a human analyst makes, and our tools make it automatic. Transition: now watch the engineer drill into one of those recurring faults.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trace from the full dataset. The engineer searches for 'rts panic'. The agent finds the panic on one node and pulls what happened right around it, and a clear ~20-second story appears: first a hardware cache error, the KERNMC machine check; then about 19 seconds of the kernel dumping its state; then the rts panic itself; then, within a second, application nodes across several racks lose their link. Notice the language: we say the cache fault 'likely' caused it — the logs prove the sequence and timing, not causation, and we're careful to label that. Transition: and this works at the scale the challenge cares about.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runs on the full challenge corpus inside SereneDB: 4.7 million BGL lines and about 208 thousand OpenStack lines, both searched and aggregated, with every answer citing the query behind it, and real full-text matching verified. As an optional stretch, we also pointed the same approach at a billion rows of remote data and queried it in place with zero download — a count comes back in a tenth of a second, a group-by in around twelve to fifteen seconds. And we're honest about the limit we hit: building a full-text index over a billion rows needs more memory than our machine had. Transition: so what should you take away, and where are the edges?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were deliberate about honesty, because that's what makes the answers trustworthy. We never treat a count of log lines as a count of confirmed incidents. Any cause is phrased as a hypothesis — 'likely', 'consistent with' — never stated as fact. We never invent business impact like downtime or cost. And we state our known limits plainly: day-buckets are in UTC while the clock times printed in log lines are local; our OpenStack 'error' rate is a keyword match, not the dataset's official anomaly labels; and the billion-row full-text index is memory-bound. Transition: to wrap up.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the whole system is one loop — question, to evidence, to recommendation — served three ways for three roles from a single corpus, where the database proves every number and the AI explains it in plain language. The takeaway is that the win here isn't a bigger model; it's giving the model the right, checkable evidence to reason over. It runs end to end from a clean checkout. Thank you — happy to take questions.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>
          <a:solidFill>
            <a:srgbClr val="1A1A1A"/>
          </a:solidFill>
          <a:latin typeface="Segoe UI"/>
        </a:defRPr>
      </a:lvl1pPr>
    </p:titleStyle>
    <p:bodyStyle>
      <a:lvl1pPr>
        <a:defRPr sz="1500">
          <a:solidFill>
            <a:srgbClr val="1A1A1A"/>
          </a:solidFill>
          <a:latin typeface="Segoe UI"/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x3"/>
          <p:cNvSpPr txBox="1"/>
          <p:nvPr/>
        </p:nvSpPr>
        <p:spPr>
          <a:xfrm>
            <a:off x="822960" y="2194560"/>
            <a:ext cx="10545775" cy="18288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1A1A1A"/>
                </a:solidFill>
                <a:latin typeface="Segoe UI"/>
              </a:rPr>
              <a:t xml:space="preserve">Log Intelligence Agent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6E7781"/>
                </a:solidFill>
                <a:latin typeface="Segoe UI"/>
              </a:rPr>
              <a:t xml:space="preserve">Turning millions of log lines into the right answer for the right person</a:t>
            </a:r>
          </a:p>
        </p:txBody>
      </p:sp>
      <p:sp>
        <p:nvSpPr>
          <p:cNvPr id="4" name="tx4"/>
          <p:cNvSpPr txBox="1"/>
          <p:nvPr/>
        </p:nvSpPr>
        <p:spPr>
          <a:xfrm>
            <a:off x="822960" y="4663440"/>
            <a:ext cx="10545775" cy="118872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25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Segoe UI"/>
              </a:rPr>
              <a:t xml:space="preserve">SchubKI National AI Hackathon 2026</a:t>
            </a:r>
            <a:r>
              <a:rPr lang="en-US" sz="1300" dirty="0">
                <a:solidFill>
                  <a:srgbClr val="6E7781"/>
                </a:solidFill>
                <a:latin typeface="Segoe UI"/>
              </a:rPr>
              <a:t xml:space="preserve">   ·   SereneDB — “Making Sense of Logs”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6FEB"/>
                </a:solidFill>
                <a:latin typeface="Segoe UI"/>
              </a:rPr>
              <a:t xml:space="preserve">Engineer   ·   Team Lead   ·   Manager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822960" y="502920"/>
            <a:ext cx="10545775" cy="10058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Segoe UI"/>
              </a:rPr>
              <a:t xml:space="preserve">The problem</a:t>
            </a:r>
          </a:p>
        </p:txBody>
      </p:sp>
      <p:sp>
        <p:nvSpPr>
          <p:cNvPr id="3" name="ln3"/>
          <p:cNvSpPr/>
          <p:nvPr/>
        </p:nvSpPr>
        <p:spPr>
          <a:xfrm>
            <a:off x="822960" y="1572768"/>
            <a:ext cx="2011680" cy="0"/>
          </a:xfrm>
          <a:prstGeom prst="line">
            <a:avLst/>
          </a:prstGeom>
          <a:ln w="3810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4" name="tx4"/>
          <p:cNvSpPr txBox="1"/>
          <p:nvPr/>
        </p:nvSpPr>
        <p:spPr>
          <a:xfrm>
            <a:off x="822960" y="1783080"/>
            <a:ext cx="6035040" cy="40233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 marL="274320" indent="-27432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Modern systems emit </a:t>
            </a:r>
            <a:r>
              <a:rPr lang="en-US" sz="1500" b="1" dirty="0">
                <a:solidFill>
                  <a:srgbClr val="1F6FEB"/>
                </a:solidFill>
                <a:latin typeface="Segoe UI"/>
              </a:rPr>
              <a:t xml:space="preserve">millions of log lines</a:t>
            </a: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 a day.</a:t>
            </a:r>
          </a:p>
          <a:p>
            <a:pPr algn="l" marL="274320" indent="-27432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An AI can </a:t>
            </a:r>
            <a:r>
              <a:rPr lang="en-US" sz="1500" i="1" dirty="0">
                <a:solidFill>
                  <a:srgbClr val="1A1A1A"/>
                </a:solidFill>
                <a:latin typeface="Segoe UI"/>
              </a:rPr>
              <a:t xml:space="preserve">explain</a:t>
            </a: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 a failure — but the logs </a:t>
            </a:r>
            <a:r>
              <a:rPr lang="en-US" sz="1500" b="1" dirty="0">
                <a:solidFill>
                  <a:srgbClr val="1F6FEB"/>
                </a:solidFill>
                <a:latin typeface="Segoe UI"/>
              </a:rPr>
              <a:t xml:space="preserve">don’t fit in a prompt.</a:t>
            </a:r>
          </a:p>
          <a:p>
            <a:pPr algn="l" marL="274320" indent="-274320">
              <a:spcAft>
                <a:spcPts val="500"/>
              </a:spcAft>
              <a:buFont typeface="Arial"/>
              <a:buChar char="•"/>
            </a:pP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Three people ask about the </a:t>
            </a:r>
            <a:r>
              <a:rPr lang="en-US" sz="1500" b="1" dirty="0">
                <a:solidFill>
                  <a:srgbClr val="1A1A1A"/>
                </a:solidFill>
                <a:latin typeface="Segoe UI"/>
              </a:rPr>
              <a:t xml:space="preserve">same logs</a:t>
            </a: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 but need different answers.</a:t>
            </a:r>
          </a:p>
        </p:txBody>
      </p:sp>
      <p:sp>
        <p:nvSpPr>
          <p:cNvPr id="5" name="r5"/>
          <p:cNvSpPr/>
          <p:nvPr/>
        </p:nvSpPr>
        <p:spPr>
          <a:xfrm>
            <a:off x="7040880" y="182880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6" name="tx6"/>
          <p:cNvSpPr txBox="1"/>
          <p:nvPr/>
        </p:nvSpPr>
        <p:spPr>
          <a:xfrm>
            <a:off x="7240880" y="1978800"/>
            <a:ext cx="3897680" cy="8430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EB"/>
                </a:solidFill>
                <a:latin typeface="Segoe UI"/>
              </a:rPr>
              <a:t xml:space="preserve">Engineer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Segoe UI"/>
              </a:rPr>
              <a:t xml:space="preserve">What failed, where, and what happened right before &amp; after?</a:t>
            </a:r>
          </a:p>
        </p:txBody>
      </p:sp>
      <p:sp>
        <p:nvSpPr>
          <p:cNvPr id="7" name="r7"/>
          <p:cNvSpPr/>
          <p:nvPr/>
        </p:nvSpPr>
        <p:spPr>
          <a:xfrm>
            <a:off x="7040880" y="315468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8" name="tx8"/>
          <p:cNvSpPr txBox="1"/>
          <p:nvPr/>
        </p:nvSpPr>
        <p:spPr>
          <a:xfrm>
            <a:off x="7240880" y="3304680"/>
            <a:ext cx="3897680" cy="8430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EB"/>
                </a:solidFill>
                <a:latin typeface="Segoe UI"/>
              </a:rPr>
              <a:t xml:space="preserve">Team Lead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Segoe UI"/>
              </a:rPr>
              <a:t xml:space="preserve">Which problems keep coming back, and who owns them?</a:t>
            </a:r>
          </a:p>
        </p:txBody>
      </p:sp>
      <p:sp>
        <p:nvSpPr>
          <p:cNvPr id="9" name="r9"/>
          <p:cNvSpPr/>
          <p:nvPr/>
        </p:nvSpPr>
        <p:spPr>
          <a:xfrm>
            <a:off x="7040880" y="4480560"/>
            <a:ext cx="4297680" cy="114300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10" name="tx10"/>
          <p:cNvSpPr txBox="1"/>
          <p:nvPr/>
        </p:nvSpPr>
        <p:spPr>
          <a:xfrm>
            <a:off x="7240880" y="4630560"/>
            <a:ext cx="3897680" cy="8430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EB"/>
                </a:solidFill>
                <a:latin typeface="Segoe UI"/>
              </a:rPr>
              <a:t xml:space="preserve">Manager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Segoe UI"/>
              </a:rPr>
              <a:t xml:space="preserve">What should we fix first — and why?</a:t>
            </a:r>
          </a:p>
        </p:txBody>
      </p:sp>
      <p:sp>
        <p:nvSpPr>
          <p:cNvPr id="11" name="ln11"/>
          <p:cNvSpPr/>
          <p:nvPr/>
        </p:nvSpPr>
        <p:spPr>
          <a:xfrm>
            <a:off x="822960" y="6199632"/>
            <a:ext cx="10545775" cy="0"/>
          </a:xfrm>
          <a:prstGeom prst="line">
            <a:avLst/>
          </a:prstGeom>
          <a:ln w="9525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12" name="tx12"/>
          <p:cNvSpPr txBox="1"/>
          <p:nvPr/>
        </p:nvSpPr>
        <p:spPr>
          <a:xfrm>
            <a:off x="822960" y="6309360"/>
            <a:ext cx="10545775" cy="3657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6E7781"/>
                </a:solidFill>
                <a:latin typeface="Segoe UI"/>
              </a:rPr>
              <a:t xml:space="preserve">The problem</a:t>
            </a:r>
            <a:r>
              <a:rPr lang="en-US" sz="900" dirty="0">
                <a:solidFill>
                  <a:srgbClr val="D0D7DE"/>
                </a:solidFill>
                <a:latin typeface="Segoe UI"/>
              </a:rPr>
              <a:t xml:space="preserve">   ·   slide 2 of 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822960" y="502920"/>
            <a:ext cx="10545775" cy="10058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Segoe UI"/>
              </a:rPr>
              <a:t xml:space="preserve">Our idea</a:t>
            </a:r>
          </a:p>
        </p:txBody>
      </p:sp>
      <p:sp>
        <p:nvSpPr>
          <p:cNvPr id="3" name="ln3"/>
          <p:cNvSpPr/>
          <p:nvPr/>
        </p:nvSpPr>
        <p:spPr>
          <a:xfrm>
            <a:off x="822960" y="1572768"/>
            <a:ext cx="2011680" cy="0"/>
          </a:xfrm>
          <a:prstGeom prst="line">
            <a:avLst/>
          </a:prstGeom>
          <a:ln w="3810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4" name="tx4"/>
          <p:cNvSpPr txBox="1"/>
          <p:nvPr/>
        </p:nvSpPr>
        <p:spPr>
          <a:xfrm>
            <a:off x="822960" y="1737360"/>
            <a:ext cx="10545775" cy="96012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15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Don’t send the logs to the AI. Give it </a:t>
            </a:r>
            <a:r>
              <a:rPr lang="en-US" sz="1500" b="1" dirty="0">
                <a:solidFill>
                  <a:srgbClr val="1F6FEB"/>
                </a:solidFill>
                <a:latin typeface="Segoe UI"/>
              </a:rPr>
              <a:t xml:space="preserve">tools</a:t>
            </a: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 that fetch just the evidence it needs.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E7781"/>
                </a:solidFill>
                <a:latin typeface="Segoe UI"/>
              </a:rPr>
              <a:t xml:space="preserve">A tool = a pre-written database query the AI can call (e.g. “search logs”, “count by team”).</a:t>
            </a:r>
          </a:p>
        </p:txBody>
      </p:sp>
      <p:sp>
        <p:nvSpPr>
          <p:cNvPr id="5" name="r5"/>
          <p:cNvSpPr/>
          <p:nvPr/>
        </p:nvSpPr>
        <p:spPr>
          <a:xfrm>
            <a:off x="822960" y="28803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6" name="tx6"/>
          <p:cNvSpPr txBox="1"/>
          <p:nvPr/>
        </p:nvSpPr>
        <p:spPr>
          <a:xfrm>
            <a:off x="942960" y="3180360"/>
            <a:ext cx="2228880" cy="8716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6E7781"/>
                </a:solidFill>
                <a:latin typeface="Segoe UI"/>
              </a:rPr>
              <a:t xml:space="preserve">Question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050" dirty="0">
                <a:solidFill>
                  <a:srgbClr val="6E7781"/>
                </a:solidFill>
                <a:latin typeface="Segoe UI"/>
              </a:rPr>
              <a:t xml:space="preserve">from a role</a:t>
            </a:r>
          </a:p>
        </p:txBody>
      </p:sp>
      <p:sp>
        <p:nvSpPr>
          <p:cNvPr id="7" name="tx7"/>
          <p:cNvSpPr txBox="1"/>
          <p:nvPr/>
        </p:nvSpPr>
        <p:spPr>
          <a:xfrm>
            <a:off x="3337560" y="2880360"/>
            <a:ext cx="384048" cy="1371600"/>
          </a:xfrm>
          <a:prstGeom prst="rect">
            <a:avLst/>
          </a:prstGeom>
        </p:spPr>
        <p:txBody>
          <a:bodyPr wrap="square" anchor="ctr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D0D7DE"/>
                </a:solidFill>
                <a:latin typeface="Segoe UI"/>
              </a:rPr>
              <a:t xml:space="preserve">→</a:t>
            </a:r>
          </a:p>
        </p:txBody>
      </p:sp>
      <p:sp>
        <p:nvSpPr>
          <p:cNvPr id="8" name="r8"/>
          <p:cNvSpPr/>
          <p:nvPr/>
        </p:nvSpPr>
        <p:spPr>
          <a:xfrm>
            <a:off x="3675888" y="28803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9" name="tx9"/>
          <p:cNvSpPr txBox="1"/>
          <p:nvPr/>
        </p:nvSpPr>
        <p:spPr>
          <a:xfrm>
            <a:off x="3795888" y="3180360"/>
            <a:ext cx="2228880" cy="8716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EB"/>
                </a:solidFill>
                <a:latin typeface="Segoe UI"/>
              </a:rPr>
              <a:t xml:space="preserve">AI picks a tool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050" dirty="0">
                <a:solidFill>
                  <a:srgbClr val="6E7781"/>
                </a:solidFill>
                <a:latin typeface="Segoe UI"/>
              </a:rPr>
              <a:t xml:space="preserve">no free-form SQL</a:t>
            </a:r>
          </a:p>
        </p:txBody>
      </p:sp>
      <p:sp>
        <p:nvSpPr>
          <p:cNvPr id="10" name="tx10"/>
          <p:cNvSpPr txBox="1"/>
          <p:nvPr/>
        </p:nvSpPr>
        <p:spPr>
          <a:xfrm>
            <a:off x="6190488" y="2880360"/>
            <a:ext cx="384048" cy="1371600"/>
          </a:xfrm>
          <a:prstGeom prst="rect">
            <a:avLst/>
          </a:prstGeom>
        </p:spPr>
        <p:txBody>
          <a:bodyPr wrap="square" anchor="ctr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D0D7DE"/>
                </a:solidFill>
                <a:latin typeface="Segoe UI"/>
              </a:rPr>
              <a:t xml:space="preserve">→</a:t>
            </a:r>
          </a:p>
        </p:txBody>
      </p:sp>
      <p:sp>
        <p:nvSpPr>
          <p:cNvPr id="11" name="r11"/>
          <p:cNvSpPr/>
          <p:nvPr/>
        </p:nvSpPr>
        <p:spPr>
          <a:xfrm>
            <a:off x="6528816" y="28803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12" name="tx12"/>
          <p:cNvSpPr txBox="1"/>
          <p:nvPr/>
        </p:nvSpPr>
        <p:spPr>
          <a:xfrm>
            <a:off x="6648816" y="3180360"/>
            <a:ext cx="2228880" cy="8716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6FEB"/>
                </a:solidFill>
                <a:latin typeface="Segoe UI"/>
              </a:rPr>
              <a:t xml:space="preserve">SereneDB runs it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050" dirty="0">
                <a:solidFill>
                  <a:srgbClr val="6E7781"/>
                </a:solidFill>
                <a:latin typeface="Segoe UI"/>
              </a:rPr>
              <a:t xml:space="preserve">search / count</a:t>
            </a:r>
          </a:p>
        </p:txBody>
      </p:sp>
      <p:sp>
        <p:nvSpPr>
          <p:cNvPr id="13" name="tx13"/>
          <p:cNvSpPr txBox="1"/>
          <p:nvPr/>
        </p:nvSpPr>
        <p:spPr>
          <a:xfrm>
            <a:off x="9043416" y="2880360"/>
            <a:ext cx="384048" cy="1371600"/>
          </a:xfrm>
          <a:prstGeom prst="rect">
            <a:avLst/>
          </a:prstGeom>
        </p:spPr>
        <p:txBody>
          <a:bodyPr wrap="square" anchor="ctr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D0D7DE"/>
                </a:solidFill>
                <a:latin typeface="Segoe UI"/>
              </a:rPr>
              <a:t xml:space="preserve">→</a:t>
            </a:r>
          </a:p>
        </p:txBody>
      </p:sp>
      <p:sp>
        <p:nvSpPr>
          <p:cNvPr id="14" name="r14"/>
          <p:cNvSpPr/>
          <p:nvPr/>
        </p:nvSpPr>
        <p:spPr>
          <a:xfrm>
            <a:off x="9381744" y="288036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15" name="tx15"/>
          <p:cNvSpPr txBox="1"/>
          <p:nvPr/>
        </p:nvSpPr>
        <p:spPr>
          <a:xfrm>
            <a:off x="9501744" y="3180360"/>
            <a:ext cx="2228880" cy="8716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A44E"/>
                </a:solidFill>
                <a:latin typeface="Segoe UI"/>
              </a:rPr>
              <a:t xml:space="preserve">Answer + evidence</a:t>
            </a:r>
          </a:p>
          <a:p>
            <a:pPr algn="ctr">
              <a:spcAft>
                <a:spcPts val="600"/>
              </a:spcAft>
              <a:buNone/>
            </a:pPr>
            <a:r>
              <a:rPr lang="en-US" sz="1050" dirty="0">
                <a:solidFill>
                  <a:srgbClr val="6E7781"/>
                </a:solidFill>
                <a:latin typeface="Segoe UI"/>
              </a:rPr>
              <a:t xml:space="preserve">with the query</a:t>
            </a:r>
          </a:p>
        </p:txBody>
      </p:sp>
      <p:sp>
        <p:nvSpPr>
          <p:cNvPr id="16" name="tx16"/>
          <p:cNvSpPr txBox="1"/>
          <p:nvPr/>
        </p:nvSpPr>
        <p:spPr>
          <a:xfrm>
            <a:off x="822960" y="4892040"/>
            <a:ext cx="10545775" cy="10058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Segoe UI"/>
              </a:rPr>
              <a:t xml:space="preserve">The database does the heavy lifting (search + counting); the AI only sees a small, relevant slice and </a:t>
            </a:r>
            <a:r>
              <a:rPr lang="en-US" sz="1300" b="1" dirty="0">
                <a:solidFill>
                  <a:srgbClr val="1F6FEB"/>
                </a:solidFill>
                <a:latin typeface="Segoe UI"/>
              </a:rPr>
              <a:t xml:space="preserve">explains it.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6E7781"/>
                </a:solidFill>
                <a:latin typeface="Segoe UI"/>
              </a:rPr>
              <a:t xml:space="preserve">Every answer carries the exact query behind it — so every number is checkable.</a:t>
            </a:r>
          </a:p>
        </p:txBody>
      </p:sp>
      <p:sp>
        <p:nvSpPr>
          <p:cNvPr id="17" name="ln17"/>
          <p:cNvSpPr/>
          <p:nvPr/>
        </p:nvSpPr>
        <p:spPr>
          <a:xfrm>
            <a:off x="822960" y="6199632"/>
            <a:ext cx="10545775" cy="0"/>
          </a:xfrm>
          <a:prstGeom prst="line">
            <a:avLst/>
          </a:prstGeom>
          <a:ln w="9525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18" name="tx18"/>
          <p:cNvSpPr txBox="1"/>
          <p:nvPr/>
        </p:nvSpPr>
        <p:spPr>
          <a:xfrm>
            <a:off x="822960" y="6309360"/>
            <a:ext cx="10545775" cy="3657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6E7781"/>
                </a:solidFill>
                <a:latin typeface="Segoe UI"/>
              </a:rPr>
              <a:t xml:space="preserve">Our idea</a:t>
            </a:r>
            <a:r>
              <a:rPr lang="en-US" sz="900" dirty="0">
                <a:solidFill>
                  <a:srgbClr val="D0D7DE"/>
                </a:solidFill>
                <a:latin typeface="Segoe UI"/>
              </a:rPr>
              <a:t xml:space="preserve">   ·   slide 3 of 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822960" y="502920"/>
            <a:ext cx="10545775" cy="10058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Segoe UI"/>
              </a:rPr>
              <a:t xml:space="preserve">How it works</a:t>
            </a:r>
          </a:p>
        </p:txBody>
      </p:sp>
      <p:sp>
        <p:nvSpPr>
          <p:cNvPr id="3" name="ln3"/>
          <p:cNvSpPr/>
          <p:nvPr/>
        </p:nvSpPr>
        <p:spPr>
          <a:xfrm>
            <a:off x="822960" y="1572768"/>
            <a:ext cx="2011680" cy="0"/>
          </a:xfrm>
          <a:prstGeom prst="line">
            <a:avLst/>
          </a:prstGeom>
          <a:ln w="3810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4" name="tx4"/>
          <p:cNvSpPr txBox="1"/>
          <p:nvPr/>
        </p:nvSpPr>
        <p:spPr>
          <a:xfrm>
            <a:off x="822960" y="1783080"/>
            <a:ext cx="6126480" cy="41148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F6FEB"/>
                </a:solidFill>
                <a:latin typeface="Segoe UI"/>
              </a:rPr>
              <a:t xml:space="preserve">16 small tools</a:t>
            </a: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, grouped by who asks: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Segoe UI"/>
              </a:rPr>
              <a:t xml:space="preserve">Engineer</a:t>
            </a: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 — full-text search, nearby events, trace one request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Segoe UI"/>
              </a:rPr>
              <a:t xml:space="preserve">Team Lead</a:t>
            </a: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 — counts per alert, per team, trends over time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Segoe UI"/>
              </a:rPr>
              <a:t xml:space="preserve">Manager</a:t>
            </a: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 — what’s widespread vs. a one-off, with owners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Segoe UI"/>
              </a:rPr>
              <a:t xml:space="preserve">Shared</a:t>
            </a: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 — data scope, team ownership, remote data at scale</a:t>
            </a:r>
          </a:p>
        </p:txBody>
      </p:sp>
      <p:sp>
        <p:nvSpPr>
          <p:cNvPr id="5" name="r5"/>
          <p:cNvSpPr/>
          <p:nvPr/>
        </p:nvSpPr>
        <p:spPr>
          <a:xfrm>
            <a:off x="7223760" y="18288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6" name="tx6"/>
          <p:cNvSpPr txBox="1"/>
          <p:nvPr/>
        </p:nvSpPr>
        <p:spPr>
          <a:xfrm>
            <a:off x="7423760" y="1978800"/>
            <a:ext cx="3714800" cy="15288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EB"/>
                </a:solidFill>
                <a:latin typeface="Segoe UI"/>
              </a:rPr>
              <a:t xml:space="preserve">Full-text search, in plain terms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Segoe UI"/>
              </a:rPr>
              <a:t xml:space="preserve">Like a smart “Ctrl-F” over 4.7 million lines that ranks the best matches first — built into SereneDB, so it is fast.</a:t>
            </a:r>
          </a:p>
        </p:txBody>
      </p:sp>
      <p:sp>
        <p:nvSpPr>
          <p:cNvPr id="7" name="r7"/>
          <p:cNvSpPr/>
          <p:nvPr/>
        </p:nvSpPr>
        <p:spPr>
          <a:xfrm>
            <a:off x="7223760" y="384048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8" name="tx8"/>
          <p:cNvSpPr txBox="1"/>
          <p:nvPr/>
        </p:nvSpPr>
        <p:spPr>
          <a:xfrm>
            <a:off x="7423760" y="3990480"/>
            <a:ext cx="3714800" cy="152880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A44E"/>
                </a:solidFill>
                <a:latin typeface="Segoe UI"/>
              </a:rPr>
              <a:t xml:space="preserve">Standard, open interface (MCP)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Segoe UI"/>
              </a:rPr>
              <a:t xml:space="preserve">The tools are exposed over MCP, so an assistant like Claude can discover and call them directly — no custom app needed.</a:t>
            </a:r>
          </a:p>
        </p:txBody>
      </p:sp>
      <p:sp>
        <p:nvSpPr>
          <p:cNvPr id="9" name="ln9"/>
          <p:cNvSpPr/>
          <p:nvPr/>
        </p:nvSpPr>
        <p:spPr>
          <a:xfrm>
            <a:off x="822960" y="6199632"/>
            <a:ext cx="10545775" cy="0"/>
          </a:xfrm>
          <a:prstGeom prst="line">
            <a:avLst/>
          </a:prstGeom>
          <a:ln w="9525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10" name="tx10"/>
          <p:cNvSpPr txBox="1"/>
          <p:nvPr/>
        </p:nvSpPr>
        <p:spPr>
          <a:xfrm>
            <a:off x="822960" y="6309360"/>
            <a:ext cx="10545775" cy="3657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6E7781"/>
                </a:solidFill>
                <a:latin typeface="Segoe UI"/>
              </a:rPr>
              <a:t xml:space="preserve">How it works</a:t>
            </a:r>
            <a:r>
              <a:rPr lang="en-US" sz="900" dirty="0">
                <a:solidFill>
                  <a:srgbClr val="D0D7DE"/>
                </a:solidFill>
                <a:latin typeface="Segoe UI"/>
              </a:rPr>
              <a:t xml:space="preserve">   ·   slide 4 of 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822960" y="502920"/>
            <a:ext cx="10545775" cy="10058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Segoe UI"/>
              </a:rPr>
              <a:t xml:space="preserve">The insight: loud ≠ recurring</a:t>
            </a:r>
          </a:p>
        </p:txBody>
      </p:sp>
      <p:sp>
        <p:nvSpPr>
          <p:cNvPr id="3" name="ln3"/>
          <p:cNvSpPr/>
          <p:nvPr/>
        </p:nvSpPr>
        <p:spPr>
          <a:xfrm>
            <a:off x="822960" y="1572768"/>
            <a:ext cx="2011680" cy="0"/>
          </a:xfrm>
          <a:prstGeom prst="line">
            <a:avLst/>
          </a:prstGeom>
          <a:ln w="3810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4" name="tx4"/>
          <p:cNvSpPr txBox="1"/>
          <p:nvPr/>
        </p:nvSpPr>
        <p:spPr>
          <a:xfrm>
            <a:off x="822960" y="1783080"/>
            <a:ext cx="10545775" cy="8229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Segoe UI"/>
              </a:rPr>
              <a:t xml:space="preserve">The noisiest alert looks like the top priority — until you measure how it is </a:t>
            </a:r>
            <a:r>
              <a:rPr lang="en-US" sz="1450" b="1" dirty="0">
                <a:solidFill>
                  <a:srgbClr val="1F6FEB"/>
                </a:solidFill>
                <a:latin typeface="Segoe UI"/>
              </a:rPr>
              <a:t xml:space="preserve">spread over time.</a:t>
            </a:r>
          </a:p>
        </p:txBody>
      </p:sp>
      <p:sp>
        <p:nvSpPr>
          <p:cNvPr id="5" name="r5"/>
          <p:cNvSpPr/>
          <p:nvPr/>
        </p:nvSpPr>
        <p:spPr>
          <a:xfrm>
            <a:off x="822960" y="2651760"/>
            <a:ext cx="5029200" cy="265176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CF222E"/>
            </a:solidFill>
          </a:ln>
        </p:spPr>
        <p:txBody>
          <a:bodyPr/>
          <a:lstStyle/>
          <a:p/>
        </p:txBody>
      </p:sp>
      <p:sp>
        <p:nvSpPr>
          <p:cNvPr id="6" name="tx6"/>
          <p:cNvSpPr txBox="1"/>
          <p:nvPr/>
        </p:nvSpPr>
        <p:spPr>
          <a:xfrm>
            <a:off x="1042960" y="2834640"/>
            <a:ext cx="4663440" cy="23774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350"/>
              </a:spcAft>
              <a:buNone/>
            </a:pPr>
            <a:r>
              <a:rPr lang="en-US" sz="1500" b="1" dirty="0">
                <a:solidFill>
                  <a:srgbClr val="CF222E"/>
                </a:solidFill>
                <a:latin typeface="Segoe UI"/>
              </a:rPr>
              <a:t xml:space="preserve">KERNDTLB — a BURST</a:t>
            </a:r>
          </a:p>
          <a:p>
            <a:pPr algn="l">
              <a:spcAft>
                <a:spcPts val="25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Segoe UI"/>
              </a:rPr>
              <a:t xml:space="preserve">152,734</a:t>
            </a:r>
            <a:r>
              <a:rPr lang="en-US" sz="1250" dirty="0">
                <a:solidFill>
                  <a:srgbClr val="6E7781"/>
                </a:solidFill>
                <a:latin typeface="Segoe UI"/>
              </a:rPr>
              <a:t xml:space="preserve">  lines (loudest)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Segoe UI"/>
              </a:rPr>
              <a:t xml:space="preserve">but 99.6% fell on a SINGLE day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CF222E"/>
                </a:solidFill>
                <a:latin typeface="Segoe UI"/>
              </a:rPr>
              <a:t xml:space="preserve">→ one incident, not an ongoing problem</a:t>
            </a:r>
          </a:p>
        </p:txBody>
      </p:sp>
      <p:sp>
        <p:nvSpPr>
          <p:cNvPr id="7" name="r7"/>
          <p:cNvSpPr/>
          <p:nvPr/>
        </p:nvSpPr>
        <p:spPr>
          <a:xfrm>
            <a:off x="6263640" y="2651760"/>
            <a:ext cx="5029200" cy="2651760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2DA44E"/>
            </a:solidFill>
          </a:ln>
        </p:spPr>
        <p:txBody>
          <a:bodyPr/>
          <a:lstStyle/>
          <a:p/>
        </p:txBody>
      </p:sp>
      <p:sp>
        <p:nvSpPr>
          <p:cNvPr id="8" name="tx8"/>
          <p:cNvSpPr txBox="1"/>
          <p:nvPr/>
        </p:nvSpPr>
        <p:spPr>
          <a:xfrm>
            <a:off x="6483640" y="2834640"/>
            <a:ext cx="4663440" cy="23774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350"/>
              </a:spcAft>
              <a:buNone/>
            </a:pPr>
            <a:r>
              <a:rPr lang="en-US" sz="1500" b="1" dirty="0">
                <a:solidFill>
                  <a:srgbClr val="2DA44E"/>
                </a:solidFill>
                <a:latin typeface="Segoe UI"/>
              </a:rPr>
              <a:t xml:space="preserve">KERNMC / KERNRTSP — RECURRING</a:t>
            </a:r>
          </a:p>
          <a:p>
            <a:pPr algn="l">
              <a:spcAft>
                <a:spcPts val="250"/>
              </a:spcAft>
              <a:buNone/>
            </a:pPr>
            <a:r>
              <a:rPr lang="en-US" sz="2600" b="1" dirty="0">
                <a:solidFill>
                  <a:srgbClr val="1A1A1A"/>
                </a:solidFill>
                <a:latin typeface="Segoe UI"/>
              </a:rPr>
              <a:t xml:space="preserve">342 / 3,983</a:t>
            </a:r>
            <a:r>
              <a:rPr lang="en-US" sz="1250" dirty="0">
                <a:solidFill>
                  <a:srgbClr val="6E7781"/>
                </a:solidFill>
                <a:latin typeface="Segoe UI"/>
              </a:rPr>
              <a:t xml:space="preserve">  lines (quieter)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Segoe UI"/>
              </a:rPr>
              <a:t xml:space="preserve">present on 144 / 126 separate days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2DA44E"/>
                </a:solidFill>
                <a:latin typeface="Segoe UI"/>
              </a:rPr>
              <a:t xml:space="preserve">→ the real standing problems to fix</a:t>
            </a:r>
          </a:p>
        </p:txBody>
      </p:sp>
      <p:sp>
        <p:nvSpPr>
          <p:cNvPr id="9" name="tx9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We rank by </a:t>
            </a:r>
            <a:r>
              <a:rPr lang="en-US" sz="1250" b="1" dirty="0">
                <a:solidFill>
                  <a:srgbClr val="1F6FEB"/>
                </a:solidFill>
                <a:latin typeface="Segoe UI"/>
              </a:rPr>
              <a:t xml:space="preserve">spread (days present)</a:t>
            </a: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, not raw volume — so a one-day storm never hides the chronic faults.</a:t>
            </a:r>
          </a:p>
        </p:txBody>
      </p:sp>
      <p:sp>
        <p:nvSpPr>
          <p:cNvPr id="10" name="ln10"/>
          <p:cNvSpPr/>
          <p:nvPr/>
        </p:nvSpPr>
        <p:spPr>
          <a:xfrm>
            <a:off x="822960" y="6199632"/>
            <a:ext cx="10545775" cy="0"/>
          </a:xfrm>
          <a:prstGeom prst="line">
            <a:avLst/>
          </a:prstGeom>
          <a:ln w="9525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11" name="tx11"/>
          <p:cNvSpPr txBox="1"/>
          <p:nvPr/>
        </p:nvSpPr>
        <p:spPr>
          <a:xfrm>
            <a:off x="822960" y="6309360"/>
            <a:ext cx="10545775" cy="3657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6E7781"/>
                </a:solidFill>
                <a:latin typeface="Segoe UI"/>
              </a:rPr>
              <a:t xml:space="preserve">The insight</a:t>
            </a:r>
            <a:r>
              <a:rPr lang="en-US" sz="900" dirty="0">
                <a:solidFill>
                  <a:srgbClr val="D0D7DE"/>
                </a:solidFill>
                <a:latin typeface="Segoe UI"/>
              </a:rPr>
              <a:t xml:space="preserve">   ·   slide 5 of 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822960" y="502920"/>
            <a:ext cx="10545775" cy="10058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Segoe UI"/>
              </a:rPr>
              <a:t xml:space="preserve">Evidence: one failure, traced</a:t>
            </a:r>
          </a:p>
        </p:txBody>
      </p:sp>
      <p:sp>
        <p:nvSpPr>
          <p:cNvPr id="3" name="ln3"/>
          <p:cNvSpPr/>
          <p:nvPr/>
        </p:nvSpPr>
        <p:spPr>
          <a:xfrm>
            <a:off x="822960" y="1572768"/>
            <a:ext cx="2011680" cy="0"/>
          </a:xfrm>
          <a:prstGeom prst="line">
            <a:avLst/>
          </a:prstGeom>
          <a:ln w="3810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4" name="tx4"/>
          <p:cNvSpPr txBox="1"/>
          <p:nvPr/>
        </p:nvSpPr>
        <p:spPr>
          <a:xfrm>
            <a:off x="822960" y="1783080"/>
            <a:ext cx="10545775" cy="73152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Segoe UI"/>
              </a:rPr>
              <a:t xml:space="preserve">Engineer asks about </a:t>
            </a:r>
            <a:r>
              <a:rPr lang="en-US" sz="1400" b="1" dirty="0">
                <a:solidFill>
                  <a:srgbClr val="1F6FEB"/>
                </a:solidFill>
                <a:latin typeface="Segoe UI"/>
              </a:rPr>
              <a:t xml:space="preserve">“rts panic”</a:t>
            </a:r>
            <a:r>
              <a:rPr lang="en-US" sz="1400" dirty="0">
                <a:solidFill>
                  <a:srgbClr val="1A1A1A"/>
                </a:solidFill>
                <a:latin typeface="Segoe UI"/>
              </a:rPr>
              <a:t xml:space="preserve">; the agent reconstructs a ~20-second hardware cascade on one node.</a:t>
            </a:r>
          </a:p>
        </p:txBody>
      </p:sp>
      <p:sp>
        <p:nvSpPr>
          <p:cNvPr id="5" name="r5"/>
          <p:cNvSpPr/>
          <p:nvPr/>
        </p:nvSpPr>
        <p:spPr>
          <a:xfrm>
            <a:off x="822960" y="2606040"/>
            <a:ext cx="10545775" cy="2514600"/>
          </a:xfrm>
          <a:prstGeom prst="roundRect">
            <a:avLst>
              <a:gd name="adj" fmla="val 6000"/>
            </a:avLst>
          </a:prstGeom>
          <a:solidFill>
            <a:srgbClr val="0B1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x6"/>
          <p:cNvSpPr txBox="1"/>
          <p:nvPr/>
        </p:nvSpPr>
        <p:spPr>
          <a:xfrm>
            <a:off x="1082960" y="2788920"/>
            <a:ext cx="10025775" cy="21945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C9D1D9"/>
                </a:solidFill>
                <a:latin typeface="Segoe UI"/>
              </a:rPr>
              <a:t xml:space="preserve">node R27-M0-NA-C:J11-U11   (2006-01-03, UTC-8 clock shown)</a:t>
            </a:r>
          </a:p>
          <a:p>
            <a:pPr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C9D1D9"/>
                </a:solidFill>
                <a:latin typeface="Segoe UI"/>
              </a:rPr>
              <a:t xml:space="preserve">03:24:46  KERNMC   L2 d-cache parity machine check  (bit=0x1d)</a:t>
            </a:r>
          </a:p>
          <a:p>
            <a:pPr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C9D1D9"/>
                </a:solidFill>
                <a:latin typeface="Segoe UI"/>
              </a:rPr>
              <a:t xml:space="preserve">          … ~19 s of register dump …</a:t>
            </a:r>
          </a:p>
          <a:p>
            <a:pPr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C9D1D9"/>
                </a:solidFill>
                <a:latin typeface="Segoe UI"/>
              </a:rPr>
              <a:t xml:space="preserve">03:25:05  KERNRTSP rts panic! - stopping execution   (BM25 score 8.382)</a:t>
            </a:r>
          </a:p>
          <a:p>
            <a:pPr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>
                <a:solidFill>
                  <a:srgbClr val="C9D1D9"/>
                </a:solidFill>
                <a:latin typeface="Segoe UI"/>
              </a:rPr>
              <a:t xml:space="preserve">03:25:06+ APPSEV   “Link has been severed” → I/O nodes, racks R20–R27</a:t>
            </a:r>
          </a:p>
        </p:txBody>
      </p:sp>
      <p:sp>
        <p:nvSpPr>
          <p:cNvPr id="7" name="tx7"/>
          <p:cNvSpPr txBox="1"/>
          <p:nvPr/>
        </p:nvSpPr>
        <p:spPr>
          <a:xfrm>
            <a:off x="822960" y="5349240"/>
            <a:ext cx="10545775" cy="8229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Hypothesis (not fact): a cache fault </a:t>
            </a:r>
            <a:r>
              <a:rPr lang="en-US" sz="1250" b="1" dirty="0">
                <a:solidFill>
                  <a:srgbClr val="1F6FEB"/>
                </a:solidFill>
                <a:latin typeface="Segoe UI"/>
              </a:rPr>
              <a:t xml:space="preserve">likely</a:t>
            </a: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 took down a multi-rack job — the logs show the sequence, not proof of cause.</a:t>
            </a:r>
          </a:p>
        </p:txBody>
      </p:sp>
      <p:sp>
        <p:nvSpPr>
          <p:cNvPr id="8" name="ln8"/>
          <p:cNvSpPr/>
          <p:nvPr/>
        </p:nvSpPr>
        <p:spPr>
          <a:xfrm>
            <a:off x="822960" y="6199632"/>
            <a:ext cx="10545775" cy="0"/>
          </a:xfrm>
          <a:prstGeom prst="line">
            <a:avLst/>
          </a:prstGeom>
          <a:ln w="9525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9" name="tx9"/>
          <p:cNvSpPr txBox="1"/>
          <p:nvPr/>
        </p:nvSpPr>
        <p:spPr>
          <a:xfrm>
            <a:off x="822960" y="6309360"/>
            <a:ext cx="10545775" cy="3657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6E7781"/>
                </a:solidFill>
                <a:latin typeface="Segoe UI"/>
              </a:rPr>
              <a:t xml:space="preserve">Evidence · engineer</a:t>
            </a:r>
            <a:r>
              <a:rPr lang="en-US" sz="900" dirty="0">
                <a:solidFill>
                  <a:srgbClr val="D0D7DE"/>
                </a:solidFill>
                <a:latin typeface="Segoe UI"/>
              </a:rPr>
              <a:t xml:space="preserve">   ·   slide 6 of 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822960" y="502920"/>
            <a:ext cx="10545775" cy="10058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Segoe UI"/>
              </a:rPr>
              <a:t xml:space="preserve">It works — and at scale</a:t>
            </a:r>
          </a:p>
        </p:txBody>
      </p:sp>
      <p:sp>
        <p:nvSpPr>
          <p:cNvPr id="3" name="ln3"/>
          <p:cNvSpPr/>
          <p:nvPr/>
        </p:nvSpPr>
        <p:spPr>
          <a:xfrm>
            <a:off x="822960" y="1572768"/>
            <a:ext cx="2011680" cy="0"/>
          </a:xfrm>
          <a:prstGeom prst="line">
            <a:avLst/>
          </a:prstGeom>
          <a:ln w="3810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4" name="tx4"/>
          <p:cNvSpPr txBox="1"/>
          <p:nvPr/>
        </p:nvSpPr>
        <p:spPr>
          <a:xfrm>
            <a:off x="822960" y="1783080"/>
            <a:ext cx="6035040" cy="393192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Segoe UI"/>
              </a:rPr>
              <a:t xml:space="preserve">Full base corpus, in SereneDB:</a:t>
            </a:r>
          </a:p>
          <a:p>
            <a:pPr algn="l" marL="274320" indent="-27432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/>
              </a:rPr>
              <a:t xml:space="preserve">BGL  —  4,747,963 log lines</a:t>
            </a:r>
          </a:p>
          <a:p>
            <a:pPr algn="l" marL="274320" indent="-27432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/>
              </a:rPr>
              <a:t xml:space="preserve">OpenStack  —  207,820 log lines</a:t>
            </a:r>
          </a:p>
          <a:p>
            <a:pPr algn="l" marL="274320" indent="-27432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/>
              </a:rPr>
              <a:t xml:space="preserve">Both searched and aggregated; every answer cites its query</a:t>
            </a:r>
          </a:p>
          <a:p>
            <a:pPr algn="l" marL="274320" indent="-274320"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1A1A1A"/>
                </a:solidFill>
                <a:latin typeface="Segoe UI"/>
              </a:rPr>
              <a:t xml:space="preserve">Real full-text match verified (BM25 score 8.382)</a:t>
            </a:r>
          </a:p>
        </p:txBody>
      </p:sp>
      <p:sp>
        <p:nvSpPr>
          <p:cNvPr id="5" name="r5"/>
          <p:cNvSpPr/>
          <p:nvPr/>
        </p:nvSpPr>
        <p:spPr>
          <a:xfrm>
            <a:off x="7040880" y="1828800"/>
            <a:ext cx="4297680" cy="3749039"/>
          </a:xfrm>
          <a:prstGeom prst="roundRect">
            <a:avLst>
              <a:gd name="adj" fmla="val 6000"/>
            </a:avLst>
          </a:prstGeom>
          <a:solidFill>
            <a:srgbClr val="F0F3F6"/>
          </a:solidFill>
          <a:ln w="12700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6" name="tx6"/>
          <p:cNvSpPr txBox="1"/>
          <p:nvPr/>
        </p:nvSpPr>
        <p:spPr>
          <a:xfrm>
            <a:off x="7280880" y="2057400"/>
            <a:ext cx="3817680" cy="338328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6FEB"/>
                </a:solidFill>
                <a:latin typeface="Segoe UI"/>
              </a:rPr>
              <a:t xml:space="preserve">Optional: huge-data stretch</a:t>
            </a:r>
          </a:p>
          <a:p>
            <a:pPr algn="l">
              <a:spcAft>
                <a:spcPts val="15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Segoe UI"/>
              </a:rPr>
              <a:t xml:space="preserve">1,000,000,000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6E7781"/>
                </a:solidFill>
                <a:latin typeface="Segoe UI"/>
              </a:rPr>
              <a:t xml:space="preserve">rows of remote data queried</a:t>
            </a:r>
          </a:p>
          <a:p>
            <a:pPr algn="l">
              <a:spcAft>
                <a:spcPts val="350"/>
              </a:spcAft>
              <a:buNone/>
            </a:pPr>
            <a:r>
              <a:rPr lang="en-US" sz="1300" b="1" dirty="0">
                <a:solidFill>
                  <a:srgbClr val="2DA44E"/>
                </a:solidFill>
                <a:latin typeface="Segoe UI"/>
              </a:rPr>
              <a:t xml:space="preserve">in place — zero download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Segoe UI"/>
              </a:rPr>
              <a:t xml:space="preserve">count in ~0.1 s; group-by in ~12–15 s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6E7781"/>
                </a:solidFill>
                <a:latin typeface="Segoe UI"/>
              </a:rPr>
              <a:t xml:space="preserve">Honest limit: a full-text index on 1B rows needs more memory than we had.</a:t>
            </a:r>
          </a:p>
        </p:txBody>
      </p:sp>
      <p:sp>
        <p:nvSpPr>
          <p:cNvPr id="7" name="ln7"/>
          <p:cNvSpPr/>
          <p:nvPr/>
        </p:nvSpPr>
        <p:spPr>
          <a:xfrm>
            <a:off x="822960" y="6199632"/>
            <a:ext cx="10545775" cy="0"/>
          </a:xfrm>
          <a:prstGeom prst="line">
            <a:avLst/>
          </a:prstGeom>
          <a:ln w="9525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8" name="tx8"/>
          <p:cNvSpPr txBox="1"/>
          <p:nvPr/>
        </p:nvSpPr>
        <p:spPr>
          <a:xfrm>
            <a:off x="822960" y="6309360"/>
            <a:ext cx="10545775" cy="3657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6E7781"/>
                </a:solidFill>
                <a:latin typeface="Segoe UI"/>
              </a:rPr>
              <a:t xml:space="preserve">Results &amp; scale</a:t>
            </a:r>
            <a:r>
              <a:rPr lang="en-US" sz="900" dirty="0">
                <a:solidFill>
                  <a:srgbClr val="D0D7DE"/>
                </a:solidFill>
                <a:latin typeface="Segoe UI"/>
              </a:rPr>
              <a:t xml:space="preserve">   ·   slide 7 of 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822960" y="502920"/>
            <a:ext cx="10545775" cy="10058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Segoe UI"/>
              </a:rPr>
              <a:t xml:space="preserve">What it does — and doesn’t — claim</a:t>
            </a:r>
          </a:p>
        </p:txBody>
      </p:sp>
      <p:sp>
        <p:nvSpPr>
          <p:cNvPr id="3" name="ln3"/>
          <p:cNvSpPr/>
          <p:nvPr/>
        </p:nvSpPr>
        <p:spPr>
          <a:xfrm>
            <a:off x="822960" y="1572768"/>
            <a:ext cx="2011680" cy="0"/>
          </a:xfrm>
          <a:prstGeom prst="line">
            <a:avLst/>
          </a:prstGeom>
          <a:ln w="3810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4" name="tx4"/>
          <p:cNvSpPr txBox="1"/>
          <p:nvPr/>
        </p:nvSpPr>
        <p:spPr>
          <a:xfrm>
            <a:off x="822960" y="1783080"/>
            <a:ext cx="5394960" cy="40233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DA44E"/>
                </a:solidFill>
                <a:latin typeface="Segoe UI"/>
              </a:rPr>
              <a:t xml:space="preserve">Honest by design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Counts are matching log lines, not confirmed incidents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Causes are hypotheses — phrased “likely” / “consistent with”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No invented downtime, cost, or customer impact</a:t>
            </a:r>
          </a:p>
        </p:txBody>
      </p:sp>
      <p:sp>
        <p:nvSpPr>
          <p:cNvPr id="5" name="tx5"/>
          <p:cNvSpPr txBox="1"/>
          <p:nvPr/>
        </p:nvSpPr>
        <p:spPr>
          <a:xfrm>
            <a:off x="6309360" y="1783080"/>
            <a:ext cx="5029200" cy="40233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F8700"/>
                </a:solidFill>
                <a:latin typeface="Segoe UI"/>
              </a:rPr>
              <a:t xml:space="preserve">Known limits (stated)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Dates are UTC; clock times in log lines are local (UTC-8)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OpenStack “error” = error keywords, not the labelled ground-truth anomalies</a:t>
            </a:r>
          </a:p>
          <a:p>
            <a:pPr algn="l" marL="274320" indent="-274320">
              <a:spcAft>
                <a:spcPts val="350"/>
              </a:spcAft>
              <a:buFont typeface="Arial"/>
              <a:buChar char="•"/>
            </a:pPr>
            <a:r>
              <a:rPr lang="en-US" sz="1250" dirty="0">
                <a:solidFill>
                  <a:srgbClr val="1A1A1A"/>
                </a:solidFill>
                <a:latin typeface="Segoe UI"/>
              </a:rPr>
              <a:t xml:space="preserve">Full-text index on 1B remote rows: memory-bound</a:t>
            </a:r>
          </a:p>
        </p:txBody>
      </p:sp>
      <p:sp>
        <p:nvSpPr>
          <p:cNvPr id="6" name="ln6"/>
          <p:cNvSpPr/>
          <p:nvPr/>
        </p:nvSpPr>
        <p:spPr>
          <a:xfrm>
            <a:off x="822960" y="6199632"/>
            <a:ext cx="10545775" cy="0"/>
          </a:xfrm>
          <a:prstGeom prst="line">
            <a:avLst/>
          </a:prstGeom>
          <a:ln w="9525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7" name="tx7"/>
          <p:cNvSpPr txBox="1"/>
          <p:nvPr/>
        </p:nvSpPr>
        <p:spPr>
          <a:xfrm>
            <a:off x="822960" y="6309360"/>
            <a:ext cx="10545775" cy="3657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6E7781"/>
                </a:solidFill>
                <a:latin typeface="Segoe UI"/>
              </a:rPr>
              <a:t xml:space="preserve">Limitations</a:t>
            </a:r>
            <a:r>
              <a:rPr lang="en-US" sz="900" dirty="0">
                <a:solidFill>
                  <a:srgbClr val="D0D7DE"/>
                </a:solidFill>
                <a:latin typeface="Segoe UI"/>
              </a:rPr>
              <a:t xml:space="preserve">   ·   slide 8 of 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x3"/>
          <p:cNvSpPr txBox="1"/>
          <p:nvPr/>
        </p:nvSpPr>
        <p:spPr>
          <a:xfrm>
            <a:off x="822960" y="502920"/>
            <a:ext cx="10545775" cy="100584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Segoe UI"/>
              </a:rPr>
              <a:t xml:space="preserve">Conclusion</a:t>
            </a:r>
          </a:p>
        </p:txBody>
      </p:sp>
      <p:sp>
        <p:nvSpPr>
          <p:cNvPr id="4" name="ln4"/>
          <p:cNvSpPr/>
          <p:nvPr/>
        </p:nvSpPr>
        <p:spPr>
          <a:xfrm>
            <a:off x="822960" y="1572768"/>
            <a:ext cx="2011680" cy="0"/>
          </a:xfrm>
          <a:prstGeom prst="line">
            <a:avLst/>
          </a:prstGeom>
          <a:ln w="38100">
            <a:solidFill>
              <a:srgbClr val="1F6FEB"/>
            </a:solidFill>
          </a:ln>
        </p:spPr>
        <p:txBody>
          <a:bodyPr/>
          <a:lstStyle/>
          <a:p/>
        </p:txBody>
      </p:sp>
      <p:sp>
        <p:nvSpPr>
          <p:cNvPr id="5" name="tx5"/>
          <p:cNvSpPr txBox="1"/>
          <p:nvPr/>
        </p:nvSpPr>
        <p:spPr>
          <a:xfrm>
            <a:off x="822960" y="1783080"/>
            <a:ext cx="10545775" cy="31089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Segoe UI"/>
              </a:rPr>
              <a:t xml:space="preserve">Question → evidence → recommendation</a:t>
            </a:r>
          </a:p>
          <a:p>
            <a:pPr algn="l">
              <a:spcAft>
                <a:spcPts val="45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Segoe UI"/>
              </a:rPr>
              <a:t xml:space="preserve">Three roles, one corpus, distinct evidence — the database proves every number, the AI explains it.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6FEB"/>
                </a:solidFill>
                <a:latin typeface="Segoe UI"/>
              </a:rPr>
              <a:t xml:space="preserve">The win isn’t a bigger model; it’s giving the model the right, checkable evidence.</a:t>
            </a:r>
          </a:p>
        </p:txBody>
      </p:sp>
      <p:sp>
        <p:nvSpPr>
          <p:cNvPr id="6" name="tx6"/>
          <p:cNvSpPr txBox="1"/>
          <p:nvPr/>
        </p:nvSpPr>
        <p:spPr>
          <a:xfrm>
            <a:off x="822960" y="5212080"/>
            <a:ext cx="10545775" cy="73152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1250" dirty="0">
                <a:solidFill>
                  <a:srgbClr val="6E7781"/>
                </a:solidFill>
                <a:latin typeface="Segoe UI"/>
              </a:rPr>
              <a:t xml:space="preserve">Runs from a clean checkout: Docker SereneDB → loader → agent / MCP server.  Thank you.</a:t>
            </a:r>
          </a:p>
        </p:txBody>
      </p:sp>
      <p:sp>
        <p:nvSpPr>
          <p:cNvPr id="7" name="ln7"/>
          <p:cNvSpPr/>
          <p:nvPr/>
        </p:nvSpPr>
        <p:spPr>
          <a:xfrm>
            <a:off x="822960" y="6199632"/>
            <a:ext cx="10545775" cy="0"/>
          </a:xfrm>
          <a:prstGeom prst="line">
            <a:avLst/>
          </a:prstGeom>
          <a:ln w="9525">
            <a:solidFill>
              <a:srgbClr val="D0D7DE"/>
            </a:solidFill>
          </a:ln>
        </p:spPr>
        <p:txBody>
          <a:bodyPr/>
          <a:lstStyle/>
          <a:p/>
        </p:txBody>
      </p:sp>
      <p:sp>
        <p:nvSpPr>
          <p:cNvPr id="8" name="tx8"/>
          <p:cNvSpPr txBox="1"/>
          <p:nvPr/>
        </p:nvSpPr>
        <p:spPr>
          <a:xfrm>
            <a:off x="822960" y="6309360"/>
            <a:ext cx="10545775" cy="365760"/>
          </a:xfrm>
          <a:prstGeom prst="rect">
            <a:avLst/>
          </a:prstGeom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6E7781"/>
                </a:solidFill>
                <a:latin typeface="Segoe UI"/>
              </a:rPr>
              <a:t xml:space="preserve">Conclusion</a:t>
            </a:r>
            <a:r>
              <a:rPr lang="en-US" sz="900" dirty="0">
                <a:solidFill>
                  <a:srgbClr val="D0D7DE"/>
                </a:solidFill>
                <a:latin typeface="Segoe UI"/>
              </a:rPr>
              <a:t xml:space="preserve">   ·   slide 9 of 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IA">
  <a:themeElements>
    <a:clrScheme name="LIA">
      <a:dk1>
        <a:srgbClr val="1A1A1A"/>
      </a:dk1>
      <a:lt1>
        <a:srgbClr val="FBFCFD"/>
      </a:lt1>
      <a:dk2>
        <a:srgbClr val="6E7781"/>
      </a:dk2>
      <a:lt2>
        <a:srgbClr val="F0F3F6"/>
      </a:lt2>
      <a:accent1>
        <a:srgbClr val="1F6FEB"/>
      </a:accent1>
      <a:accent2>
        <a:srgbClr val="2DA44E"/>
      </a:accent2>
      <a:accent3>
        <a:srgbClr val="BF8700"/>
      </a:accent3>
      <a:accent4>
        <a:srgbClr val="CF222E"/>
      </a:accent4>
      <a:accent5>
        <a:srgbClr val="8250DF"/>
      </a:accent5>
      <a:accent6>
        <a:srgbClr val="0969DA"/>
      </a:accent6>
      <a:hlink>
        <a:srgbClr val="1F6FEB"/>
      </a:hlink>
      <a:folHlink>
        <a:srgbClr val="8250DF"/>
      </a:folHlink>
    </a:clrScheme>
    <a:fontScheme name="LIA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9</Slides>
  <Application>build_pptx.py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Log Intelligence Agent — Project Overview</dc:title>
  <dc:creator>Log Intelligence Agent team</dc:creator>
</cp:coreProperties>
</file>